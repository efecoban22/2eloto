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12.png"/><Relationship Id="rId11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png"/><Relationship Id="rId4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7.png"/><Relationship Id="rId5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Relationship Id="rId11" Type="http://schemas.openxmlformats.org/officeDocument/2006/relationships/image" Target="../media/image2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Relationship Id="rId8" Type="http://schemas.openxmlformats.org/officeDocument/2006/relationships/image" Target="../media/image3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image" Target="../media/image4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Relationship Id="rId6" Type="http://schemas.openxmlformats.org/officeDocument/2006/relationships/image" Target="../media/image44.png"/><Relationship Id="rId7" Type="http://schemas.openxmlformats.org/officeDocument/2006/relationships/image" Target="../media/image45.png"/><Relationship Id="rId8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38125" y="2379464"/>
            <a:ext cx="11715750" cy="754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940"/>
              </a:lnSpc>
            </a:pPr>
            <a:r>
              <a:rPr b="1" sz="5400" i="0" u="none">
                <a:solidFill>
                  <a:srgbClr val="00F2FE"/>
                </a:solidFill>
                <a:latin typeface="Urbanist"/>
              </a:rPr>
              <a:t>2EIOto</a:t>
            </a:r>
            <a:r>
              <a:rPr b="1" sz="5400" i="0" u="none">
                <a:solidFill>
                  <a:srgbClr val="FFFFFF"/>
                </a:solidFill>
                <a:latin typeface="Urbanist"/>
              </a:rPr>
              <a:t> Projesi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8125" y="3324225"/>
            <a:ext cx="1171575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b="1" sz="3600" i="0" u="none">
                <a:solidFill>
                  <a:srgbClr val="FFFFFF"/>
                </a:solidFill>
                <a:latin typeface="Urbanist"/>
              </a:rPr>
              <a:t>Yazılım Geliştirme Staj Sunumu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9750" y="4158555"/>
            <a:ext cx="8572500" cy="319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b="0" sz="1800" i="0" u="none">
                <a:solidFill>
                  <a:srgbClr val="B0BEC5"/>
                </a:solidFill>
                <a:latin typeface="Urbanist"/>
              </a:rPr>
              <a:t>İstanbul Üniversitesi-Cerrahpaşa | Bilgisayar Mühendisliği Bölümü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590686" y="2162323"/>
            <a:ext cx="5010626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b="1" sz="3600" i="0" u="none">
                <a:solidFill>
                  <a:srgbClr val="FFFFFF"/>
                </a:solidFill>
                <a:latin typeface="Urbanist"/>
              </a:rPr>
              <a:t>Proje Özeti ve </a:t>
            </a:r>
            <a:r>
              <a:rPr b="1" sz="3600" i="0" u="none">
                <a:solidFill>
                  <a:srgbClr val="00F2FE"/>
                </a:solidFill>
                <a:latin typeface="Urbanist"/>
              </a:rPr>
              <a:t>Kapsamı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0" y="3091904"/>
            <a:ext cx="762000" cy="38100"/>
          </a:xfrm>
          <a:prstGeom prst="rect">
            <a:avLst/>
          </a:prstGeom>
          <a:solidFill>
            <a:srgbClr val="0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09750" y="3415754"/>
            <a:ext cx="8572500" cy="1279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b="0" sz="1800" i="0" u="none">
                <a:solidFill>
                  <a:srgbClr val="B0BEC5"/>
                </a:solidFill>
                <a:latin typeface="Urbanist"/>
              </a:rPr>
              <a:t>2EIOto, modern web mühendisliği prensipleriyle (SPA, REST API, RDBMS) sıfırdan kurgulanmış, modüler ve ölçeklenebilir bir ikinci el araç platformudur. 4 haftalık staj süresince altyapı kurulumundan uçtan uca test aşamasına kadar tüm yazılım yaşam döngüsü deneyimlenmiştir.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1845915"/>
            <a:ext cx="5334000" cy="381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09625" y="2093565"/>
            <a:ext cx="5000625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CFD8DC"/>
                </a:solidFill>
                <a:latin typeface="Urbanist"/>
              </a:rPr>
              <a:t>İzole Ortam:</a:t>
            </a:r>
            <a:r>
              <a:rPr b="0" sz="1500" i="0" u="none">
                <a:solidFill>
                  <a:srgbClr val="CFD8DC"/>
                </a:solidFill>
                <a:latin typeface="Urbanist Medium"/>
              </a:rPr>
              <a:t> Bağımlılık çakışmalarını önlemek adına </a:t>
            </a:r>
            <a:r>
              <a:rPr b="0" sz="1500" i="0" u="none">
                <a:solidFill>
                  <a:srgbClr val="CFD8DC"/>
                </a:solidFill>
                <a:latin typeface="Urbanist Medium"/>
              </a:rPr>
              <a:t>Python venv</a:t>
            </a:r>
            <a:r>
              <a:rPr b="0" sz="1500" i="0" u="none">
                <a:solidFill>
                  <a:srgbClr val="CFD8DC"/>
                </a:solidFill>
                <a:latin typeface="Urbanist Medium"/>
              </a:rPr>
              <a:t> ile sanal geliştirme ortamı oluşturuldu.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9625" y="2846040"/>
            <a:ext cx="5000625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CFD8DC"/>
                </a:solidFill>
                <a:latin typeface="Urbanist"/>
              </a:rPr>
              <a:t>Web Çatısı:</a:t>
            </a:r>
            <a:r>
              <a:rPr b="0" sz="1500" i="0" u="none">
                <a:solidFill>
                  <a:srgbClr val="CFD8DC"/>
                </a:solidFill>
                <a:latin typeface="Urbanist Medium"/>
              </a:rPr>
              <a:t> Hafif mimarisi ve esnekliği sebebiyle </a:t>
            </a:r>
            <a:r>
              <a:rPr b="0" sz="1500" i="0" u="none">
                <a:solidFill>
                  <a:srgbClr val="CFD8DC"/>
                </a:solidFill>
                <a:latin typeface="Urbanist Medium"/>
              </a:rPr>
              <a:t>Flask</a:t>
            </a:r>
            <a:r>
              <a:rPr b="0" sz="1500" i="0" u="none">
                <a:solidFill>
                  <a:srgbClr val="CFD8DC"/>
                </a:solidFill>
                <a:latin typeface="Urbanist Medium"/>
              </a:rPr>
              <a:t> mikro framework'ü sisteme entegre edildi.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9625" y="3598515"/>
            <a:ext cx="5000625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CFD8DC"/>
                </a:solidFill>
                <a:latin typeface="Urbanist"/>
              </a:rPr>
              <a:t>Veritabanı Servisi:</a:t>
            </a:r>
            <a:r>
              <a:rPr b="0" sz="1500" i="0" u="none">
                <a:solidFill>
                  <a:srgbClr val="CFD8DC"/>
                </a:solidFill>
                <a:latin typeface="Urbanist Medium"/>
              </a:rPr>
              <a:t> Veri kalıcılığı için </a:t>
            </a:r>
            <a:r>
              <a:rPr b="0" sz="1500" i="0" u="none">
                <a:solidFill>
                  <a:srgbClr val="CFD8DC"/>
                </a:solidFill>
                <a:latin typeface="Urbanist Medium"/>
              </a:rPr>
              <a:t>PostgreSQL</a:t>
            </a:r>
            <a:r>
              <a:rPr b="0" sz="1500" i="0" u="none">
                <a:solidFill>
                  <a:srgbClr val="CFD8DC"/>
                </a:solidFill>
                <a:latin typeface="Urbanist Medium"/>
              </a:rPr>
              <a:t> kurularak güvenlik konfigürasyonları ve port ayarları (5432) yapıldı.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625" y="4350990"/>
            <a:ext cx="500062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CFD8DC"/>
                </a:solidFill>
                <a:latin typeface="Urbanist"/>
              </a:rPr>
              <a:t>Bağlantı Testi:</a:t>
            </a:r>
            <a:r>
              <a:rPr b="0" sz="1500" i="0" u="none">
                <a:solidFill>
                  <a:srgbClr val="CFD8DC"/>
                </a:solidFill>
                <a:latin typeface="Urbanist Medium"/>
              </a:rPr>
              <a:t> İşletim sistemi servisleri üzerinden ayağa kaldırılan veritabanına terminal (psql) üzerinden başarılı bağlantı sağlandı.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275" y="1855440"/>
            <a:ext cx="5314950" cy="37909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76250" y="381000"/>
            <a:ext cx="1171575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FFFFFF"/>
                </a:solidFill>
                <a:latin typeface="Urbanist"/>
              </a:rPr>
              <a:t>1. Hafta: </a:t>
            </a:r>
            <a:r>
              <a:rPr b="1" sz="3600" i="0" u="none">
                <a:solidFill>
                  <a:srgbClr val="00F2FE"/>
                </a:solidFill>
                <a:latin typeface="Urbanist"/>
              </a:rPr>
              <a:t>Altyapı ve Veritabanı Kurulumu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2074515"/>
            <a:ext cx="114300" cy="2476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2826990"/>
            <a:ext cx="114300" cy="2476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3579465"/>
            <a:ext cx="114300" cy="2476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4331940"/>
            <a:ext cx="114300" cy="2476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117377"/>
            <a:ext cx="3555950" cy="326692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7950" y="2117377"/>
            <a:ext cx="3555950" cy="326692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9650" y="2117377"/>
            <a:ext cx="3556099" cy="3266926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150" y="2460277"/>
            <a:ext cx="571500" cy="571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19150" y="3222277"/>
            <a:ext cx="3013657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FFFFFF"/>
                </a:solidFill>
                <a:latin typeface="Urbanist"/>
              </a:rPr>
              <a:t>Mantıksal Şema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150" y="3669952"/>
            <a:ext cx="2870150" cy="13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B0BEC5"/>
                </a:solidFill>
                <a:latin typeface="Urbanist"/>
              </a:rPr>
              <a:t>Veritabanında "2eloto" adında özel bir şema kurgulandı. Bu sayede veri izolasyonu, güvenlik ve yönetim süreçleri sistemsel olarak güvence altına alındı.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0850" y="2460277"/>
            <a:ext cx="571500" cy="571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60850" y="3222277"/>
            <a:ext cx="3013657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FFFFFF"/>
                </a:solidFill>
                <a:latin typeface="Urbanist"/>
              </a:rPr>
              <a:t>DDL ve Kısıtlamalar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0850" y="3669952"/>
            <a:ext cx="2870150" cy="13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B0BEC5"/>
                </a:solidFill>
                <a:latin typeface="Urbanist"/>
              </a:rPr>
              <a:t>"arac" tablosu; Primary Key (id), varchar, decimal ve timestamp (created_at) gibi doğru veri tipleri ve yapısal kısıtlarla (constraints) DBeaver üzerinden inşa edildi.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02550" y="2460277"/>
            <a:ext cx="571500" cy="571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502550" y="3222277"/>
            <a:ext cx="30138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FFFFFF"/>
                </a:solidFill>
                <a:latin typeface="Urbanist"/>
              </a:rPr>
              <a:t>Mock Data Entegrasyonu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2550" y="3669952"/>
            <a:ext cx="2870299" cy="109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B0BEC5"/>
                </a:solidFill>
                <a:latin typeface="Urbanist"/>
              </a:rPr>
              <a:t>API geliştirme aşamasına hazırlık amacıyla 5 farklı markaya ait 25 adet yapılandırılmış test verisi (mock data) DML komutlarıyla sisteme aktarıldı.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1550" y="2612677"/>
            <a:ext cx="266700" cy="2667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13250" y="2612677"/>
            <a:ext cx="266700" cy="2667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69238" y="2612677"/>
            <a:ext cx="238125" cy="2667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76250" y="381000"/>
            <a:ext cx="1171575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FFFFFF"/>
                </a:solidFill>
                <a:latin typeface="Urbanist"/>
              </a:rPr>
              <a:t>Veri Katmanı </a:t>
            </a:r>
            <a:r>
              <a:rPr b="1" sz="3600" i="0" u="none">
                <a:solidFill>
                  <a:srgbClr val="00F2FE"/>
                </a:solidFill>
                <a:latin typeface="Urbanist"/>
              </a:rPr>
              <a:t>Tasarımı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5500687" cy="109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FFFFFF"/>
                </a:solidFill>
                <a:latin typeface="Urbanist"/>
              </a:rPr>
              <a:t>2. Hafta: </a:t>
            </a:r>
            <a:r>
              <a:rPr b="1" sz="3600" i="0" u="none">
                <a:solidFill>
                  <a:srgbClr val="00F2FE"/>
                </a:solidFill>
                <a:latin typeface="Urbanist"/>
              </a:rPr>
              <a:t>Frontend Mimarisi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0"/>
            <a:ext cx="581025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2481262"/>
            <a:ext cx="5238750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FFFFFF"/>
                </a:solidFill>
                <a:latin typeface="Urbanist"/>
              </a:rPr>
              <a:t>Single Page Application (SPA)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4875" y="3006923"/>
            <a:ext cx="4905375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FD8DC"/>
                </a:solidFill>
                <a:latin typeface="Urbanist Medium"/>
              </a:rPr>
              <a:t>Modern kullanıcı deneyimi için sayfa yenilenmesini (reload) ortadan kaldıran SPA mimarisi kurgulandı.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4875" y="3759398"/>
            <a:ext cx="4905375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FD8DC"/>
                </a:solidFill>
                <a:latin typeface="Urbanist Medium"/>
              </a:rPr>
              <a:t>DOM manipülasyonu ve bileşen yönetimi için saf JavaScript (Vanilla JS) kullanıldı.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4875" y="4511873"/>
            <a:ext cx="490537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CFD8DC"/>
                </a:solidFill>
                <a:latin typeface="Urbanist Medium"/>
              </a:rPr>
              <a:t>URL'deki '#' değişimlerini dinleyen özel bir </a:t>
            </a:r>
            <a:r>
              <a:rPr b="1" sz="1500" i="0" u="none">
                <a:solidFill>
                  <a:srgbClr val="CFD8DC"/>
                </a:solidFill>
                <a:latin typeface="Urbanist"/>
              </a:rPr>
              <a:t>Hash-Based Routing</a:t>
            </a:r>
            <a:r>
              <a:rPr b="0" sz="1500" i="0" u="none">
                <a:solidFill>
                  <a:srgbClr val="CFD8DC"/>
                </a:solidFill>
                <a:latin typeface="Urbanist Medium"/>
              </a:rPr>
              <a:t> mekanizması yazılarak modüler bir uygulama iskeleti oluşturuldu.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987873"/>
            <a:ext cx="114300" cy="2476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740348"/>
            <a:ext cx="114300" cy="2476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492823"/>
            <a:ext cx="114300" cy="2476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1024830"/>
            <a:ext cx="5429250" cy="545216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024830"/>
            <a:ext cx="5429250" cy="545216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1462980"/>
            <a:ext cx="4780597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0F2FE"/>
                </a:solidFill>
                <a:latin typeface="Urbanist"/>
              </a:rPr>
              <a:t>Dinamik Filtreleme Algoritması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929705"/>
            <a:ext cx="4552950" cy="9525"/>
          </a:xfrm>
          <a:prstGeom prst="rect">
            <a:avLst/>
          </a:prstGeom>
          <a:solidFill>
            <a:srgbClr val="0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29730"/>
            <a:ext cx="455295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B0BEC5"/>
                </a:solidFill>
                <a:latin typeface="Urbanist"/>
              </a:rPr>
              <a:t>Marka, motor tipi ve maksimum fiyat kriterlerine göre çalışan esnek bir algoritma yazıldı. JavaScript'in fonksiyonel dizi metotları (filter, map) kullanılarak, büyük veri setlerinde kaba kuvvet (brute-force) yaklaşımı yerine performanslı bir veri süzme mekanizması sağlandı.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4650" y="1462980"/>
            <a:ext cx="4780597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0F2FE"/>
                </a:solidFill>
                <a:latin typeface="Urbanist"/>
              </a:rPr>
              <a:t>Responsive Grid Tasarımı</a:t>
            </a:r>
          </a:p>
        </p:txBody>
      </p:sp>
      <p:sp>
        <p:nvSpPr>
          <p:cNvPr id="9" name="Rectangle 8"/>
          <p:cNvSpPr/>
          <p:nvPr/>
        </p:nvSpPr>
        <p:spPr>
          <a:xfrm>
            <a:off x="6724650" y="1929705"/>
            <a:ext cx="4552950" cy="9525"/>
          </a:xfrm>
          <a:prstGeom prst="rect">
            <a:avLst/>
          </a:prstGeom>
          <a:solidFill>
            <a:srgbClr val="0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24650" y="2129730"/>
            <a:ext cx="45529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B0BEC5"/>
                </a:solidFill>
                <a:latin typeface="Urbanist"/>
              </a:rPr>
              <a:t>Karmaşık tablolar yerine kullanıcı dostu Kart (Card) bileşenleri tasarlandı. CSS Grid, Flexbox ve Media Queries ile mobil, tablet ve masaüstü ekranlarında kusursuz çalışan (responsive) akışkan bir görünüm katmanı inşa edildi.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6250" y="381000"/>
            <a:ext cx="1171575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FFFFFF"/>
                </a:solidFill>
                <a:latin typeface="Urbanist"/>
              </a:rPr>
              <a:t>Arayüz Geliştirme ve </a:t>
            </a:r>
            <a:r>
              <a:rPr b="1" sz="3600" i="0" u="none">
                <a:solidFill>
                  <a:srgbClr val="00F2FE"/>
                </a:solidFill>
                <a:latin typeface="Urbanist"/>
              </a:rPr>
              <a:t>Kullanıcı Deneyimi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1845915"/>
            <a:ext cx="5334000" cy="381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09625" y="2165002"/>
            <a:ext cx="500062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CFD8DC"/>
                </a:solidFill>
                <a:latin typeface="Urbanist"/>
              </a:rPr>
              <a:t>Modüler İskelet:</a:t>
            </a:r>
            <a:r>
              <a:rPr b="0" sz="1500" i="0" u="none">
                <a:solidFill>
                  <a:srgbClr val="CFD8DC"/>
                </a:solidFill>
                <a:latin typeface="Urbanist Medium"/>
              </a:rPr>
              <a:t> Flask üzerinde </a:t>
            </a:r>
            <a:r>
              <a:rPr b="0" sz="1500" i="0" u="none">
                <a:solidFill>
                  <a:srgbClr val="CFD8DC"/>
                </a:solidFill>
                <a:latin typeface="Urbanist Medium"/>
              </a:rPr>
              <a:t>routes</a:t>
            </a:r>
            <a:r>
              <a:rPr b="0" sz="1500" i="0" u="none">
                <a:solidFill>
                  <a:srgbClr val="CFD8DC"/>
                </a:solidFill>
                <a:latin typeface="Urbanist Medium"/>
              </a:rPr>
              <a:t>, </a:t>
            </a:r>
            <a:r>
              <a:rPr b="0" sz="1500" i="0" u="none">
                <a:solidFill>
                  <a:srgbClr val="CFD8DC"/>
                </a:solidFill>
                <a:latin typeface="Urbanist Medium"/>
              </a:rPr>
              <a:t>models</a:t>
            </a:r>
            <a:r>
              <a:rPr b="0" sz="1500" i="0" u="none">
                <a:solidFill>
                  <a:srgbClr val="CFD8DC"/>
                </a:solidFill>
                <a:latin typeface="Urbanist Medium"/>
              </a:rPr>
              <a:t> ve DB katmanları ayrılarak temiz kod (Clean Code) mimarisi kuruldu.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9625" y="3222277"/>
            <a:ext cx="500062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CFD8DC"/>
                </a:solidFill>
                <a:latin typeface="Urbanist"/>
              </a:rPr>
              <a:t>SQLAlchemy Entegrasyonu:</a:t>
            </a:r>
            <a:r>
              <a:rPr b="0" sz="1500" i="0" u="none">
                <a:solidFill>
                  <a:srgbClr val="CFD8DC"/>
                </a:solidFill>
                <a:latin typeface="Urbanist Medium"/>
              </a:rPr>
              <a:t> Veritabanı bağlantısı güvenli nesne yönelimli ORM (Object-Relational Mapping) yapısına taşındı.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9625" y="4279552"/>
            <a:ext cx="500062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CFD8DC"/>
                </a:solidFill>
                <a:latin typeface="Urbanist"/>
              </a:rPr>
              <a:t>Veri Modelleri:</a:t>
            </a:r>
            <a:r>
              <a:rPr b="0" sz="1500" i="0" u="none">
                <a:solidFill>
                  <a:srgbClr val="CFD8DC"/>
                </a:solidFill>
                <a:latin typeface="Urbanist Medium"/>
              </a:rPr>
              <a:t> Tablo şemaları Python kod seviyesinde sınıf (class) yapılarına dönüştürülerek DB senkronizasyonu sağlandı.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275" y="1855440"/>
            <a:ext cx="5314950" cy="37909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6250" y="381000"/>
            <a:ext cx="1171575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FFFFFF"/>
                </a:solidFill>
                <a:latin typeface="Urbanist"/>
              </a:rPr>
              <a:t>3. Hafta: </a:t>
            </a:r>
            <a:r>
              <a:rPr b="1" sz="3600" i="0" u="none">
                <a:solidFill>
                  <a:srgbClr val="00F2FE"/>
                </a:solidFill>
                <a:latin typeface="Urbanist"/>
              </a:rPr>
              <a:t>Backend ve REST API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2145952"/>
            <a:ext cx="114300" cy="2476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3203227"/>
            <a:ext cx="114300" cy="2476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4260502"/>
            <a:ext cx="114300" cy="2476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102197"/>
            <a:ext cx="3555950" cy="329743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7950" y="2102197"/>
            <a:ext cx="3555950" cy="329743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9650" y="2102197"/>
            <a:ext cx="3556099" cy="329743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150" y="2445097"/>
            <a:ext cx="571500" cy="571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19150" y="3207097"/>
            <a:ext cx="3013657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FFFFFF"/>
                </a:solidFill>
                <a:latin typeface="Urbanist"/>
              </a:rPr>
              <a:t>Veri Okuma (GET)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150" y="3654772"/>
            <a:ext cx="2870150" cy="109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B0BEC5"/>
                </a:solidFill>
                <a:latin typeface="Urbanist"/>
              </a:rPr>
              <a:t>Tüm araçları getiren liste endpoint'i ve URL parametreleriyle spesifik id'ye sahip aracı getiren detay endpoint'i kodlandı.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0850" y="2445097"/>
            <a:ext cx="571500" cy="571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60850" y="3207097"/>
            <a:ext cx="3013657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FFFFFF"/>
                </a:solidFill>
                <a:latin typeface="Urbanist"/>
              </a:rPr>
              <a:t>Durum Güncelleme (PATCH)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0850" y="3959572"/>
            <a:ext cx="2870150" cy="109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B0BEC5"/>
                </a:solidFill>
                <a:latin typeface="Urbanist"/>
              </a:rPr>
              <a:t>Araçların operasyonel yaşam döngüsünü (satılık, rezerve) güvenli bir şekilde yönetmek için HTTP PATCH metodu entegre edildi.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02550" y="2445097"/>
            <a:ext cx="571500" cy="571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502550" y="3207097"/>
            <a:ext cx="30138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FFFFFF"/>
                </a:solidFill>
                <a:latin typeface="Urbanist"/>
              </a:rPr>
              <a:t>Global Error Handling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2550" y="3654772"/>
            <a:ext cx="2870299" cy="13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B0BEC5"/>
                </a:solidFill>
                <a:latin typeface="Urbanist"/>
              </a:rPr>
              <a:t>404 (Not Found) ve 500 (Server Error) durumları yakalanarak, istemciye "status", "message", "data" alanları içeren standart JSON yanıtları döndürüldü.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5837" y="2597497"/>
            <a:ext cx="238125" cy="2667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13250" y="2597497"/>
            <a:ext cx="266700" cy="2667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21613" y="2597497"/>
            <a:ext cx="333375" cy="2667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76250" y="381000"/>
            <a:ext cx="1171575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FFFFFF"/>
                </a:solidFill>
                <a:latin typeface="Urbanist"/>
              </a:rPr>
              <a:t>RESTful Uç Noktaları ve </a:t>
            </a:r>
            <a:r>
              <a:rPr b="1" sz="3600" i="0" u="none">
                <a:solidFill>
                  <a:srgbClr val="00F2FE"/>
                </a:solidFill>
                <a:latin typeface="Urbanist"/>
              </a:rPr>
              <a:t>Hata Yönetimi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1845915"/>
            <a:ext cx="3555950" cy="1905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7950" y="1845915"/>
            <a:ext cx="3555950" cy="1905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9650" y="1845915"/>
            <a:ext cx="3555950" cy="1905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6250" y="3941415"/>
            <a:ext cx="3733747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0F2FE"/>
                </a:solidFill>
                <a:latin typeface="Urbanist"/>
              </a:rPr>
              <a:t>Sistem Bütünlüğü (E2E)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6250" y="4293840"/>
            <a:ext cx="3555950" cy="121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B0BEC5"/>
                </a:solidFill>
                <a:latin typeface="Urbanist"/>
              </a:rPr>
              <a:t>Arayüzden girilen verinin backend'de işlenip veritabanına kayıt olma süreci çift yönlü olarak (Request/Response) test edildi.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17950" y="3941415"/>
            <a:ext cx="3733747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0F2FE"/>
                </a:solidFill>
                <a:latin typeface="Urbanist"/>
              </a:rPr>
              <a:t>Edge Case Analizi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17950" y="4293840"/>
            <a:ext cx="3555950" cy="121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B0BEC5"/>
                </a:solidFill>
                <a:latin typeface="Urbanist"/>
              </a:rPr>
              <a:t>İş mantığına aykırı durumlar; örneğin statüsü 'pasif' olan araçların listelemede gizlenmesi ve URL manipülasyonu test edildi.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59650" y="3941415"/>
            <a:ext cx="3733747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0F2FE"/>
                </a:solidFill>
                <a:latin typeface="Urbanist"/>
              </a:rPr>
              <a:t>Performans Analizi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59650" y="4293840"/>
            <a:ext cx="355595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B0BEC5"/>
                </a:solidFill>
                <a:latin typeface="Urbanist"/>
              </a:rPr>
              <a:t>Sistemin arayüz tepki süreleri, render hızı ve DOM güncellemeleri Chrome DevTools ve Lighthouse araçlarıyla incelendi.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775" y="1855440"/>
            <a:ext cx="3536900" cy="18859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27475" y="1855440"/>
            <a:ext cx="3536900" cy="18859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69175" y="1855440"/>
            <a:ext cx="3536900" cy="18859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76250" y="381000"/>
            <a:ext cx="1171575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FFFFFF"/>
                </a:solidFill>
                <a:latin typeface="Urbanist"/>
              </a:rPr>
              <a:t>4. Hafta: </a:t>
            </a:r>
            <a:r>
              <a:rPr b="1" sz="3600" i="0" u="none">
                <a:solidFill>
                  <a:srgbClr val="00F2FE"/>
                </a:solidFill>
                <a:latin typeface="Urbanist"/>
              </a:rPr>
              <a:t>Uçtan Uca (E2E) Test ve QA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1907827"/>
            <a:ext cx="4657725" cy="762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3231802"/>
            <a:ext cx="4657725" cy="762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4555777"/>
            <a:ext cx="4657725" cy="76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05525" y="2436465"/>
            <a:ext cx="5890736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0F2FE"/>
                </a:solidFill>
                <a:latin typeface="Urbanist"/>
              </a:rPr>
              <a:t>Lighthouse Analiz Sonuçları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05525" y="2950815"/>
            <a:ext cx="5610225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B0BEC5"/>
                </a:solidFill>
                <a:latin typeface="Urbanist"/>
              </a:rPr>
              <a:t>Stajımın dördüncü haftasında yapılan performans testlerinde, arayüz mimarisinin oldukça optimize çalıştığı kanıtlanmıştır.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05525" y="3703290"/>
            <a:ext cx="5610225" cy="121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B0BEC5"/>
                </a:solidFill>
                <a:latin typeface="Urbanist"/>
              </a:rPr>
              <a:t>Sayfadaki en büyük görsel elemanın (LCP) 0.23 saniyede yüklenmesi ve düzen kaymasının (CLS) sıfır olması, kurgulanan SPA mimarisinin ve DOM manipülasyonlarının üst düzey verimlilikle çalıştığını göstermektedir.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6250" y="2717452"/>
            <a:ext cx="46577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CFD8DC"/>
                </a:solidFill>
                <a:latin typeface="Urbanist Medium"/>
              </a:rPr>
              <a:t>LCP (LARGEST CONTENTFUL PAINT)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6250" y="4041427"/>
            <a:ext cx="46577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CFD8DC"/>
                </a:solidFill>
                <a:latin typeface="Urbanist Medium"/>
              </a:rPr>
              <a:t>CLS (CUMULATIVE LAYOUT SHIFT)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6250" y="5365402"/>
            <a:ext cx="46577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CFD8DC"/>
                </a:solidFill>
                <a:latin typeface="Urbanist Medium"/>
              </a:rPr>
              <a:t>INP (INTERACTION TO NEXT PAINT)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6250" y="381000"/>
            <a:ext cx="1171575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FFFFFF"/>
                </a:solidFill>
                <a:latin typeface="Urbanist"/>
              </a:rPr>
              <a:t>Kullanıcı Deneyimi </a:t>
            </a:r>
            <a:r>
              <a:rPr b="1" sz="3600" i="0" u="none">
                <a:solidFill>
                  <a:srgbClr val="00F2FE"/>
                </a:solidFill>
                <a:latin typeface="Urbanist"/>
              </a:rPr>
              <a:t>Performans Metrikleri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76250" y="375493"/>
            <a:ext cx="9525000" cy="1497210"/>
          </a:xfrm>
          <a:prstGeom prst="rect">
            <a:avLst/>
          </a:prstGeom>
          <a:solidFill>
            <a:srgbClr val="15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8250" y="613618"/>
            <a:ext cx="8477250" cy="1020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FFFFFF"/>
                </a:solidFill>
                <a:latin typeface="Urbanist"/>
              </a:rPr>
              <a:t>Sayfalama (Pagination) Entegrasyonu</a:t>
            </a:r>
            <a:r>
              <a:rPr b="0" sz="1500" i="0" u="none">
                <a:solidFill>
                  <a:srgbClr val="B0BEC5"/>
                </a:solidFill>
                <a:latin typeface="Urbanist Medium"/>
              </a:rPr>
              <a:t> Veri hacmi arttıkça performans düşüşünü önlemek için backend tarafına LIMIT/OFFSET parametreleri eklenerek, liste sayfasına sayfalama özelliği getirilmelidir.</a:t>
            </a:r>
          </a:p>
        </p:txBody>
      </p:sp>
      <p:sp>
        <p:nvSpPr>
          <p:cNvPr id="5" name="Rectangle 4"/>
          <p:cNvSpPr/>
          <p:nvPr/>
        </p:nvSpPr>
        <p:spPr>
          <a:xfrm>
            <a:off x="476250" y="375493"/>
            <a:ext cx="38100" cy="1497210"/>
          </a:xfrm>
          <a:prstGeom prst="rect">
            <a:avLst/>
          </a:prstGeom>
          <a:solidFill>
            <a:srgbClr val="0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6250" y="2063204"/>
            <a:ext cx="9525000" cy="1497210"/>
          </a:xfrm>
          <a:prstGeom prst="rect">
            <a:avLst/>
          </a:prstGeom>
          <a:solidFill>
            <a:srgbClr val="15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8250" y="2301329"/>
            <a:ext cx="8477250" cy="1020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FFFFFF"/>
                </a:solidFill>
                <a:latin typeface="Urbanist"/>
              </a:rPr>
              <a:t>Görsellerin Tembel Yüklenmesi (Lazy Loading)</a:t>
            </a:r>
            <a:r>
              <a:rPr b="0" sz="1500" i="0" u="none">
                <a:solidFill>
                  <a:srgbClr val="B0BEC5"/>
                </a:solidFill>
                <a:latin typeface="Urbanist Medium"/>
              </a:rPr>
              <a:t> Çok sayıda yüksek çözünürlüklü resmin aynı anda indirilmesini engellemek için, kullanıcı sayfayı aşağı kaydırdıkça render işlemini tetikleyen Lazy Load algoritması kurulmalıdır.</a:t>
            </a:r>
          </a:p>
        </p:txBody>
      </p:sp>
      <p:sp>
        <p:nvSpPr>
          <p:cNvPr id="8" name="Rectangle 7"/>
          <p:cNvSpPr/>
          <p:nvPr/>
        </p:nvSpPr>
        <p:spPr>
          <a:xfrm>
            <a:off x="476250" y="2063204"/>
            <a:ext cx="38100" cy="1497210"/>
          </a:xfrm>
          <a:prstGeom prst="rect">
            <a:avLst/>
          </a:prstGeom>
          <a:solidFill>
            <a:srgbClr val="0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6250" y="3750915"/>
            <a:ext cx="9525000" cy="1497210"/>
          </a:xfrm>
          <a:prstGeom prst="rect">
            <a:avLst/>
          </a:prstGeom>
          <a:solidFill>
            <a:srgbClr val="15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8250" y="3989040"/>
            <a:ext cx="8477250" cy="1020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FFFFFF"/>
                </a:solidFill>
                <a:latin typeface="Urbanist"/>
              </a:rPr>
              <a:t>NULL Veri ve Hata Standardizasyonu</a:t>
            </a:r>
            <a:r>
              <a:rPr b="0" sz="1500" i="0" u="none">
                <a:solidFill>
                  <a:srgbClr val="B0BEC5"/>
                </a:solidFill>
                <a:latin typeface="Urbanist Medium"/>
              </a:rPr>
              <a:t> Aracın resmi olmadığında (NULL) arayüzün bozulmasını engelleyecek yer tutucu (placeholder) görseller eklenmeli ve geçersiz filtre kombinasyonlarındaki hata dönüşleri kesinleştirilmelidir.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6250" y="3750915"/>
            <a:ext cx="38100" cy="1497210"/>
          </a:xfrm>
          <a:prstGeom prst="rect">
            <a:avLst/>
          </a:prstGeom>
          <a:solidFill>
            <a:srgbClr val="0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6250" y="5438626"/>
            <a:ext cx="9525000" cy="1497210"/>
          </a:xfrm>
          <a:prstGeom prst="rect">
            <a:avLst/>
          </a:prstGeom>
          <a:solidFill>
            <a:srgbClr val="15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5676751"/>
            <a:ext cx="8477250" cy="1020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FFFFFF"/>
                </a:solidFill>
                <a:latin typeface="Urbanist"/>
              </a:rPr>
              <a:t>Gelişmiş UX Etkileşimleri</a:t>
            </a:r>
            <a:r>
              <a:rPr b="0" sz="1500" i="0" u="none">
                <a:solidFill>
                  <a:srgbClr val="B0BEC5"/>
                </a:solidFill>
                <a:latin typeface="Urbanist Medium"/>
              </a:rPr>
              <a:t> Çoklu motor tipi seçimi (checkbox), fiyat aralığı (slider bar) ve asenkron veri yüklenirken kullanıcıyı bilgilendiren 'Loading Spinner' animasyonları arayüze eklenmelidir.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6250" y="5438626"/>
            <a:ext cx="38100" cy="1497210"/>
          </a:xfrm>
          <a:prstGeom prst="rect">
            <a:avLst/>
          </a:prstGeom>
          <a:solidFill>
            <a:srgbClr val="0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475" y="608855"/>
            <a:ext cx="266700" cy="2762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475" y="2296566"/>
            <a:ext cx="266700" cy="2762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475" y="3984277"/>
            <a:ext cx="266700" cy="2762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475" y="5671988"/>
            <a:ext cx="266700" cy="27622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76250" y="-268337"/>
            <a:ext cx="1171575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FFFFFF"/>
                </a:solidFill>
                <a:latin typeface="Urbanist"/>
              </a:rPr>
              <a:t>Bilinen Kısıtlar ve </a:t>
            </a:r>
            <a:r>
              <a:rPr b="1" sz="3600" i="0" u="none">
                <a:solidFill>
                  <a:srgbClr val="00F2FE"/>
                </a:solidFill>
                <a:latin typeface="Urbanist"/>
              </a:rPr>
              <a:t>Gelecek Geliştirmeler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38125" y="1368772"/>
            <a:ext cx="11715750" cy="2057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100"/>
              </a:lnSpc>
            </a:pPr>
            <a:r>
              <a:rPr b="1" sz="6750" i="0" u="none">
                <a:solidFill>
                  <a:srgbClr val="FFFFFF"/>
                </a:solidFill>
                <a:latin typeface="Urbanist"/>
              </a:rPr>
              <a:t>Dinlediğiniz İçin</a:t>
            </a:r>
            <a:r>
              <a:t>
</a:t>
            </a:r>
            <a:r>
              <a:rPr b="1" sz="6750" i="0" u="none">
                <a:solidFill>
                  <a:srgbClr val="FFFFFF"/>
                </a:solidFill>
                <a:latin typeface="Urbanist"/>
              </a:rPr>
              <a:t> Teşekkürler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6250" y="3711922"/>
            <a:ext cx="11239500" cy="853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b="0" sz="2100" i="0" u="none">
                <a:solidFill>
                  <a:srgbClr val="B0BEC5"/>
                </a:solidFill>
                <a:latin typeface="Urbanist"/>
              </a:rPr>
              <a:t>Proje, mimari veya kod tabanı hakkında</a:t>
            </a:r>
            <a:r>
              <a:t>
</a:t>
            </a:r>
            <a:r>
              <a:rPr b="0" sz="2100" i="0" u="none">
                <a:solidFill>
                  <a:srgbClr val="B0BEC5"/>
                </a:solidFill>
                <a:latin typeface="Urbanist"/>
              </a:rPr>
              <a:t> sorularınızı yanıtlamaktan memnuniyet duyarım.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6250" y="5041552"/>
            <a:ext cx="11239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b="0" sz="1500" i="0" u="none">
                <a:solidFill>
                  <a:srgbClr val="00F2FE"/>
                </a:solidFill>
                <a:latin typeface="monospace"/>
              </a:rPr>
              <a:t>github.com/EfeCoban22/2eloto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76250" y="1203275"/>
            <a:ext cx="11239500" cy="9828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76250" y="2186136"/>
            <a:ext cx="112395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76250" y="2970907"/>
            <a:ext cx="112395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6250" y="3755677"/>
            <a:ext cx="112395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76250" y="4540448"/>
            <a:ext cx="112395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76250" y="2176611"/>
            <a:ext cx="112395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6250" y="2176611"/>
            <a:ext cx="112395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6250" y="2961382"/>
            <a:ext cx="112395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6250" y="2961382"/>
            <a:ext cx="112395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6250" y="3746152"/>
            <a:ext cx="112395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6250" y="3746152"/>
            <a:ext cx="112395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6250" y="4530923"/>
            <a:ext cx="112395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6250" y="4530923"/>
            <a:ext cx="112395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6250" y="5315694"/>
            <a:ext cx="112395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6250" y="5315694"/>
            <a:ext cx="112395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1451818"/>
            <a:ext cx="857250" cy="4762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571625" y="1346150"/>
            <a:ext cx="10144125" cy="396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B0BEC5"/>
                </a:solidFill>
                <a:latin typeface="Urbanist Medium"/>
              </a:rPr>
              <a:t>https://media2.dev.to/dynamic/image/width=1000,height=420,fit=cover,gravity=auto,format=auto/https%3A%2F%2Fdev-to-uploads.s3.amazonaws.com%2Fuploads%2Farticles%2Fqwll864zw703ep5rsmu2.png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71625" y="1789955"/>
            <a:ext cx="101441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B0BEC5"/>
                </a:solidFill>
                <a:latin typeface="Urbanist Medium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Urbanist Medium"/>
              </a:rPr>
              <a:t>dev.to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2335559"/>
            <a:ext cx="857250" cy="4762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571625" y="2329011"/>
            <a:ext cx="101441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B0BEC5"/>
                </a:solidFill>
                <a:latin typeface="Urbanist Medium"/>
              </a:rPr>
              <a:t>https://learn.microsoft.com/en-us/dotnet/architecture/modern-web-apps-azure/media/image5-5.png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1625" y="2574726"/>
            <a:ext cx="101441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B0BEC5"/>
                </a:solidFill>
                <a:latin typeface="Urbanist Medium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Urbanist Medium"/>
              </a:rPr>
              <a:t>learn.microsoft.com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3120330"/>
            <a:ext cx="857250" cy="47625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571625" y="3113782"/>
            <a:ext cx="101441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B0BEC5"/>
                </a:solidFill>
                <a:latin typeface="Urbanist Medium"/>
              </a:rPr>
              <a:t>https://www.amitmerchant.com/images/hyperterm.png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71625" y="3359497"/>
            <a:ext cx="101441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B0BEC5"/>
                </a:solidFill>
                <a:latin typeface="Urbanist Medium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Urbanist Medium"/>
              </a:rPr>
              <a:t>www.amitmerchant.com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50" y="3905101"/>
            <a:ext cx="857250" cy="47625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571625" y="3898552"/>
            <a:ext cx="101441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B0BEC5"/>
                </a:solidFill>
                <a:latin typeface="Urbanist Medium"/>
              </a:rPr>
              <a:t>https://techgeeksapparel.com/wp-content/uploads/2025/04/unisex-classic-tee-dark-heather-front-67f24c3b176ca.webp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71625" y="4144267"/>
            <a:ext cx="101441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B0BEC5"/>
                </a:solidFill>
                <a:latin typeface="Urbanist Medium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Urbanist Medium"/>
              </a:rPr>
              <a:t>techgeeksapparel.com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250" y="4689871"/>
            <a:ext cx="857250" cy="47625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571625" y="4683323"/>
            <a:ext cx="101441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B0BEC5"/>
                </a:solidFill>
                <a:latin typeface="Urbanist Medium"/>
              </a:rPr>
              <a:t>https://www.levi9.com/wp-content/uploads/2024/01/50-Shades-of-Debugging-AWS-Node.js-Lambdas-Head-Banner.jpg.webp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71625" y="4929038"/>
            <a:ext cx="101441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B0BEC5"/>
                </a:solidFill>
                <a:latin typeface="Urbanist Medium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Urbanist Medium"/>
              </a:rPr>
              <a:t>www.levi9.com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6250" y="5573762"/>
            <a:ext cx="857250" cy="47625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571625" y="5468094"/>
            <a:ext cx="10144125" cy="396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B0BEC5"/>
                </a:solidFill>
                <a:latin typeface="Urbanist Medium"/>
              </a:rPr>
              <a:t>https://www.slideteam.net/media/catalog/product/cache/1280x720/a/n/analytics_dashboard_to_track_website_performance_guide_to_direct_response_marketing_slide01.jpg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71625" y="5911899"/>
            <a:ext cx="101441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B0BEC5"/>
                </a:solidFill>
                <a:latin typeface="Urbanist Medium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Urbanist Medium"/>
              </a:rPr>
              <a:t>www.slideteam.net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6250" y="381000"/>
            <a:ext cx="1171575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FFFFFF"/>
                </a:solidFill>
                <a:latin typeface="Urbanist"/>
              </a:rPr>
              <a:t>Image Sources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